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Yv-Me ROI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EasePal Care — Yobe State, Nigeria</a:t>
            </a:r>
          </a:p>
          <a:p>
            <a:pPr>
              <a:spcAft>
                <a:spcPts val="1400"/>
              </a:spcAft>
              <a:defRPr sz="2200"/>
            </a:pPr>
            <a:r>
              <a:t>Programme Economics &amp; Partnership ROI</a:t>
            </a:r>
          </a:p>
          <a:p>
            <a:pPr>
              <a:spcAft>
                <a:spcPts val="1400"/>
              </a:spcAft>
              <a:defRPr sz="2200"/>
            </a:pPr>
            <a:r>
              <a:t>1 CHEW : 10 Beneficiaries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CHEWs: 100</a:t>
            </a:r>
          </a:p>
          <a:p>
            <a:pPr>
              <a:spcAft>
                <a:spcPts val="1400"/>
              </a:spcAft>
              <a:defRPr sz="2200"/>
            </a:pPr>
            <a:r>
              <a:t>Beneficiaries: 1,000</a:t>
            </a:r>
          </a:p>
          <a:p>
            <a:pPr>
              <a:spcAft>
                <a:spcPts val="1400"/>
              </a:spcAft>
              <a:defRPr sz="2200"/>
            </a:pPr>
            <a:r>
              <a:t>Programme Duration: 12 months</a:t>
            </a:r>
          </a:p>
          <a:p>
            <a:pPr>
              <a:spcAft>
                <a:spcPts val="1400"/>
              </a:spcAft>
              <a:defRPr sz="2200"/>
            </a:pPr>
            <a:r>
              <a:t>Programme Budget: NGN 426,906,031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 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1 CHEW : 10 Beneficiaries</a:t>
            </a:r>
          </a:p>
          <a:p>
            <a:pPr>
              <a:spcAft>
                <a:spcPts val="1400"/>
              </a:spcAft>
              <a:defRPr sz="2200"/>
            </a:pPr>
            <a:r>
              <a:t>Community-based care delivery</a:t>
            </a:r>
          </a:p>
          <a:p>
            <a:pPr>
              <a:spcAft>
                <a:spcPts val="1400"/>
              </a:spcAft>
              <a:defRPr sz="2200"/>
            </a:pPr>
            <a:r>
              <a:t>Scalable deployment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Monthly Programme Cost: NGN 35,575,503</a:t>
            </a:r>
          </a:p>
          <a:p>
            <a:pPr>
              <a:spcAft>
                <a:spcPts val="1400"/>
              </a:spcAft>
              <a:defRPr sz="2200"/>
            </a:pPr>
            <a:r>
              <a:t>Annual Programme Cost: NGN 426,906,031</a:t>
            </a:r>
          </a:p>
          <a:p>
            <a:pPr>
              <a:spcAft>
                <a:spcPts val="1400"/>
              </a:spcAft>
              <a:defRPr sz="2200"/>
            </a:pPr>
            <a:r>
              <a:t>Cost per CHEW: NGN 4,269,060</a:t>
            </a:r>
          </a:p>
          <a:p>
            <a:pPr>
              <a:spcAft>
                <a:spcPts val="1400"/>
              </a:spcAft>
              <a:defRPr sz="2200"/>
            </a:pPr>
            <a:r>
              <a:t>Cost per Beneficiary: NGN 426,906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/ Partner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Adjustable programme assumptions</a:t>
            </a:r>
          </a:p>
          <a:p>
            <a:pPr>
              <a:spcAft>
                <a:spcPts val="1400"/>
              </a:spcAft>
              <a:defRPr sz="2200"/>
            </a:pPr>
            <a:r>
              <a:t>Revenue scenario modelling</a:t>
            </a:r>
          </a:p>
          <a:p>
            <a:pPr>
              <a:spcAft>
                <a:spcPts val="1400"/>
              </a:spcAft>
              <a:defRPr sz="2200"/>
            </a:pPr>
            <a:r>
              <a:t>ROI and break-even analysis</a:t>
            </a:r>
          </a:p>
          <a:p>
            <a:pPr>
              <a:spcAft>
                <a:spcPts val="1400"/>
              </a:spcAft>
              <a:defRPr sz="2200"/>
            </a:pPr>
            <a:r>
              <a:t>Scaling economics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Donor / Grant / iNGO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Transparent programme budgeting</a:t>
            </a:r>
          </a:p>
          <a:p>
            <a:pPr>
              <a:spcAft>
                <a:spcPts val="1400"/>
              </a:spcAft>
              <a:defRPr sz="2200"/>
            </a:pPr>
            <a:r>
              <a:t>Cost-per-beneficiary visibility</a:t>
            </a:r>
          </a:p>
          <a:p>
            <a:pPr>
              <a:spcAft>
                <a:spcPts val="1400"/>
              </a:spcAft>
              <a:defRPr sz="2200"/>
            </a:pPr>
            <a:r>
              <a:t>Scalable care delivery</a:t>
            </a:r>
          </a:p>
          <a:p>
            <a:pPr>
              <a:spcAft>
                <a:spcPts val="1400"/>
              </a:spcAft>
              <a:defRPr sz="2200"/>
            </a:pPr>
            <a:r>
              <a:t>Sustainability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Validate assumptions</a:t>
            </a:r>
          </a:p>
          <a:p>
            <a:pPr>
              <a:spcAft>
                <a:spcPts val="1400"/>
              </a:spcAft>
              <a:defRPr sz="2200"/>
            </a:pPr>
            <a:r>
              <a:t>Select financing scenario</a:t>
            </a:r>
          </a:p>
          <a:p>
            <a:pPr>
              <a:spcAft>
                <a:spcPts val="1400"/>
              </a:spcAft>
              <a:defRPr sz="2200"/>
            </a:pPr>
            <a:r>
              <a:t>Run scale scenarios</a:t>
            </a:r>
          </a:p>
          <a:p>
            <a:pPr>
              <a:spcAft>
                <a:spcPts val="1400"/>
              </a:spcAft>
              <a:defRPr sz="2200"/>
            </a:pPr>
            <a:r>
              <a:t>Generate final investment or grant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